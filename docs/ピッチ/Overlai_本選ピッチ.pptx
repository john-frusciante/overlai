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鈴鹿高専の、Overlaiです。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井上は、風邪薬を買って帰ったら、似た薬がもう家にありました。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処方薬を使う濱田と杉本は、化粧水を買うとき、使っていいのか、どっちが先か迷いました。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そこで作ったのがOverlaiです。成分表示を撮るだけで、AIが家の薬と照らし合わせ、買うべきかの目安を出します。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名前が違っても、同じ働きの薬に気づけます。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使っている薬との相性も、買う前にわかります。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塗る順番まで案内します。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家で一度登録すれば、店では撮るだけ。理由には出典を添えます。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家では、悩みに合わせた使い方のコツもAIが添えます。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買い重ねる前に。塗り重ねる前に。一緒に飲む前に。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Overlai。重ねる前に、重ねて見る。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9.png"/><Relationship Id="rId4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go-fai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86600" y="960120"/>
            <a:ext cx="4937760" cy="49377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8229600" cy="29463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ユメカタリ 学生生成AIコンテスト 2026｜開発部門</a:t>
            </a:r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240280"/>
            <a:ext cx="1524000" cy="1524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240280" y="2265680"/>
            <a:ext cx="3561080" cy="14732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0" b="0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Overlai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931920"/>
            <a:ext cx="7315200" cy="4051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Overlay（重ねる）＋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5486400"/>
            <a:ext cx="7315200" cy="29463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鈴鹿工業高等専門学校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5852160"/>
            <a:ext cx="7315200" cy="29463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井上 高志・濱田 圭太郎・杉本 隼都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685800"/>
            <a:ext cx="7315200" cy="368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2563EB"/>
                </a:solidFill>
                <a:latin typeface="Noto Sans JP"/>
                <a:ea typeface="Noto Sans JP"/>
                <a:cs typeface="Noto Sans JP"/>
              </a:rPr>
              <a:t>CASE 1｜重複の迷い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143000"/>
            <a:ext cx="10515600" cy="33147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井上｜店頭に立つと、家にある薬を思い出せない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645920"/>
            <a:ext cx="10789920" cy="4787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風邪薬を買って帰ると、似たような薬がもう家にあった。</a:t>
            </a:r>
          </a:p>
        </p:txBody>
      </p:sp>
      <p:pic>
        <p:nvPicPr>
          <p:cNvPr id="5" name="Picture 4" descr="clou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331720"/>
            <a:ext cx="7772400" cy="3886200"/>
          </a:xfrm>
          <a:prstGeom prst="rect">
            <a:avLst/>
          </a:prstGeom>
        </p:spPr>
      </p:pic>
      <p:pic>
        <p:nvPicPr>
          <p:cNvPr id="6" name="Picture 5" descr="people-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81251" y="4343400"/>
            <a:ext cx="2098963" cy="2514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75537" y="3522726"/>
            <a:ext cx="6766560" cy="58927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家に、同じような薬あったっけ？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5537" y="4309110"/>
            <a:ext cx="6766560" cy="58927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名前は違うけど、中身は同じ？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685800"/>
            <a:ext cx="7315200" cy="368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2563EB"/>
                </a:solidFill>
                <a:latin typeface="Noto Sans JP"/>
                <a:ea typeface="Noto Sans JP"/>
                <a:cs typeface="Noto Sans JP"/>
              </a:rPr>
              <a:t>CASE 2｜組み合わせの迷い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143000"/>
            <a:ext cx="10515600" cy="33147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濱田・杉本｜肌が弱く、病院で処方された薬を使っている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645920"/>
            <a:ext cx="10789920" cy="4787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化粧水を買うとき、処方された薬との相性と使い方がわからなかった。</a:t>
            </a:r>
          </a:p>
        </p:txBody>
      </p:sp>
      <p:pic>
        <p:nvPicPr>
          <p:cNvPr id="5" name="Picture 4" descr="clou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331720"/>
            <a:ext cx="7772400" cy="3886200"/>
          </a:xfrm>
          <a:prstGeom prst="rect">
            <a:avLst/>
          </a:prstGeom>
        </p:spPr>
      </p:pic>
      <p:pic>
        <p:nvPicPr>
          <p:cNvPr id="6" name="Picture 5" descr="people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14797" y="4343400"/>
            <a:ext cx="3865418" cy="2514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75537" y="3522726"/>
            <a:ext cx="6766560" cy="58927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薬を塗った肌に、使っていい？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5537" y="4309110"/>
            <a:ext cx="6766560" cy="58927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薬と化粧品、どっちが先？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417320"/>
            <a:ext cx="1371600" cy="13716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084832" y="1440179"/>
            <a:ext cx="3230880" cy="1325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200" b="0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Overlai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971800"/>
            <a:ext cx="5486400" cy="33147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Overlay（重ねる）＋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3749039"/>
            <a:ext cx="6949440" cy="16573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店で成分表示を撮るだけで、</a:t>
            </a:r>
          </a:p>
          <a:p>
            <a:pPr algn="l">
              <a:lnSpc>
                <a:spcPct val="100000"/>
              </a:lnSpc>
            </a:pPr>
            <a:r>
              <a:rPr sz="30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家の薬・化粧品と比べて</a:t>
            </a:r>
          </a:p>
          <a:p>
            <a:pPr algn="l">
              <a:lnSpc>
                <a:spcPct val="100000"/>
              </a:lnSpc>
            </a:pPr>
            <a:r>
              <a:rPr sz="30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「買うべきか」の目安がわかる。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848295" y="1600200"/>
            <a:ext cx="2560320" cy="2560320"/>
          </a:xfrm>
          <a:prstGeom prst="roundRect">
            <a:avLst>
              <a:gd name="adj" fmla="val 16714"/>
            </a:avLst>
          </a:prstGeom>
          <a:solidFill>
            <a:srgbClr val="E4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945575" y="2697480"/>
            <a:ext cx="2560320" cy="2560320"/>
          </a:xfrm>
          <a:prstGeom prst="roundRect">
            <a:avLst>
              <a:gd name="adj" fmla="val 16714"/>
            </a:avLst>
          </a:prstGeom>
          <a:solidFill>
            <a:srgbClr val="BCC3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" name="Round Diagonal Corner Rectangle 7"/>
          <p:cNvSpPr/>
          <p:nvPr/>
        </p:nvSpPr>
        <p:spPr>
          <a:xfrm>
            <a:off x="8945575" y="2697480"/>
            <a:ext cx="1463040" cy="1463040"/>
          </a:xfrm>
          <a:prstGeom prst="round2DiagRect">
            <a:avLst>
              <a:gd name="adj1" fmla="val 29250"/>
              <a:gd name="adj2" fmla="val 0"/>
            </a:avLst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45575" y="3107131"/>
            <a:ext cx="1463040" cy="33147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Noto Sans JP"/>
                <a:ea typeface="Noto Sans JP"/>
                <a:cs typeface="Noto Sans JP"/>
              </a:rPr>
              <a:t>重ねて判定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3354" y="1845259"/>
            <a:ext cx="2560320" cy="33147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店で撮った商品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66276" y="4349800"/>
            <a:ext cx="2194560" cy="6629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8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撮って登録した</a:t>
            </a:r>
          </a:p>
          <a:p>
            <a:pPr algn="r">
              <a:lnSpc>
                <a:spcPct val="100000"/>
              </a:lnSpc>
            </a:pPr>
            <a:r>
              <a:rPr sz="18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家の薬・化粧品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375343" y="3604564"/>
            <a:ext cx="146304" cy="146304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9603943" y="3604564"/>
            <a:ext cx="146304" cy="146304"/>
          </a:xfrm>
          <a:prstGeom prst="roundRect">
            <a:avLst>
              <a:gd name="adj" fmla="val 50000"/>
            </a:avLst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9832543" y="3604564"/>
            <a:ext cx="146304" cy="146304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685800"/>
            <a:ext cx="7315200" cy="368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2563EB"/>
                </a:solidFill>
                <a:latin typeface="Noto Sans JP"/>
                <a:ea typeface="Noto Sans JP"/>
                <a:cs typeface="Noto Sans JP"/>
              </a:rPr>
              <a:t>できること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00200"/>
            <a:ext cx="6858000" cy="4051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94A3B8"/>
                </a:solidFill>
                <a:latin typeface="Noto Sans JP"/>
                <a:ea typeface="Noto Sans JP"/>
                <a:cs typeface="Noto Sans JP"/>
              </a:rPr>
              <a:t>「名前は違うけど、中身は同じ？」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240280"/>
            <a:ext cx="548640" cy="4572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514600"/>
            <a:ext cx="6858000" cy="1325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名前が違っても、</a:t>
            </a:r>
          </a:p>
          <a:p>
            <a:pPr algn="l">
              <a:lnSpc>
                <a:spcPct val="100000"/>
              </a:lnSpc>
            </a:pPr>
            <a:r>
              <a:rPr sz="36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同じ働きの薬に気づける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023360"/>
            <a:ext cx="6858000" cy="736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風邪薬と頭痛薬のように、別の薬でも</a:t>
            </a:r>
          </a:p>
          <a:p>
            <a:pPr algn="l">
              <a:lnSpc>
                <a:spcPct val="100000"/>
              </a:lnSpc>
            </a:pPr>
            <a:r>
              <a:rPr sz="20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成分がかぶっていれば知らせる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47116" y="466344"/>
            <a:ext cx="3021034" cy="5925312"/>
          </a:xfrm>
          <a:prstGeom prst="roundRect">
            <a:avLst>
              <a:gd name="adj" fmla="val 6658"/>
            </a:avLst>
          </a:prstGeom>
          <a:solidFill>
            <a:srgbClr val="FFFFFF"/>
          </a:solidFill>
          <a:ln w="12700">
            <a:solidFill>
              <a:srgbClr val="D9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8" name="Picture 7" descr="yellow-r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9412" y="548640"/>
            <a:ext cx="2856442" cy="576072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8472234" y="3503889"/>
            <a:ext cx="828368" cy="247710"/>
          </a:xfrm>
          <a:prstGeom prst="roundRect">
            <a:avLst>
              <a:gd name="adj" fmla="val 22148"/>
            </a:avLst>
          </a:prstGeom>
          <a:noFill/>
          <a:ln w="28575">
            <a:solidFill>
              <a:srgbClr val="B453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444802" y="3174705"/>
            <a:ext cx="1429512" cy="3017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444802" y="3174705"/>
            <a:ext cx="1402080" cy="301752"/>
          </a:xfrm>
          <a:prstGeom prst="roundRect">
            <a:avLst>
              <a:gd name="adj" fmla="val 15151"/>
            </a:avLst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  <a:ea typeface="Noto Sans JP"/>
                <a:cs typeface="Noto Sans JP"/>
              </a:rPr>
              <a:t>重複する成分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429388" y="4408322"/>
            <a:ext cx="2656491" cy="702807"/>
          </a:xfrm>
          <a:prstGeom prst="roundRect">
            <a:avLst>
              <a:gd name="adj" fmla="val 7806"/>
            </a:avLst>
          </a:prstGeom>
          <a:noFill/>
          <a:ln w="28575">
            <a:solidFill>
              <a:srgbClr val="B453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401956" y="4079138"/>
            <a:ext cx="2683923" cy="3017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401956" y="4079138"/>
            <a:ext cx="792480" cy="301752"/>
          </a:xfrm>
          <a:prstGeom prst="roundRect">
            <a:avLst>
              <a:gd name="adj" fmla="val 15151"/>
            </a:avLst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  <a:ea typeface="Noto Sans JP"/>
                <a:cs typeface="Noto Sans JP"/>
              </a:rPr>
              <a:t>家の薬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5897880"/>
            <a:ext cx="1463040" cy="2762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判定は3色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882140" y="6007608"/>
            <a:ext cx="173736" cy="17373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138172" y="5897880"/>
            <a:ext cx="1996440" cy="2762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買っても問題なさそう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408932" y="6007608"/>
            <a:ext cx="173736" cy="173736"/>
          </a:xfrm>
          <a:prstGeom prst="roundRect">
            <a:avLst>
              <a:gd name="adj" fmla="val 50000"/>
            </a:avLst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64964" y="5897880"/>
            <a:ext cx="1615440" cy="2762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買わなくて大丈夫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54724" y="6007608"/>
            <a:ext cx="173736" cy="173736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10756" y="5897880"/>
            <a:ext cx="1043940" cy="2762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注意が必要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685800"/>
            <a:ext cx="7315200" cy="368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2563EB"/>
                </a:solidFill>
                <a:latin typeface="Noto Sans JP"/>
                <a:ea typeface="Noto Sans JP"/>
                <a:cs typeface="Noto Sans JP"/>
              </a:rPr>
              <a:t>できること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00200"/>
            <a:ext cx="6858000" cy="4051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94A3B8"/>
                </a:solidFill>
                <a:latin typeface="Noto Sans JP"/>
                <a:ea typeface="Noto Sans JP"/>
                <a:cs typeface="Noto Sans JP"/>
              </a:rPr>
              <a:t>「薬を塗った肌に、使っていい？」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240280"/>
            <a:ext cx="548640" cy="4572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514600"/>
            <a:ext cx="6858000" cy="1325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使っている薬との相性が、</a:t>
            </a:r>
          </a:p>
          <a:p>
            <a:pPr algn="l">
              <a:lnSpc>
                <a:spcPct val="100000"/>
              </a:lnSpc>
            </a:pPr>
            <a:r>
              <a:rPr sz="36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買う前にわかる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023360"/>
            <a:ext cx="6858000" cy="736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飲み薬だけでなく、塗り薬や</a:t>
            </a:r>
          </a:p>
          <a:p>
            <a:pPr algn="l">
              <a:lnSpc>
                <a:spcPct val="100000"/>
              </a:lnSpc>
            </a:pPr>
            <a:r>
              <a:rPr sz="20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化粧品との組み合わせも確かめられる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00801" y="466344"/>
            <a:ext cx="3067349" cy="5925312"/>
          </a:xfrm>
          <a:prstGeom prst="roundRect">
            <a:avLst>
              <a:gd name="adj" fmla="val 6558"/>
            </a:avLst>
          </a:prstGeom>
          <a:solidFill>
            <a:srgbClr val="FFFFFF"/>
          </a:solidFill>
          <a:ln w="12700">
            <a:solidFill>
              <a:srgbClr val="D9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8" name="Picture 7" descr="red-r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83097" y="548640"/>
            <a:ext cx="2902757" cy="576072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8384693" y="3452042"/>
            <a:ext cx="1219158" cy="253471"/>
          </a:xfrm>
          <a:prstGeom prst="roundRect">
            <a:avLst>
              <a:gd name="adj" fmla="val 21645"/>
            </a:avLst>
          </a:prstGeom>
          <a:noFill/>
          <a:ln w="28575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357261" y="3122858"/>
            <a:ext cx="1246590" cy="3017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357261" y="3122858"/>
            <a:ext cx="995679" cy="301752"/>
          </a:xfrm>
          <a:prstGeom prst="roundRect">
            <a:avLst>
              <a:gd name="adj" fmla="val 15151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  <a:ea typeface="Noto Sans JP"/>
                <a:cs typeface="Noto Sans JP"/>
              </a:rPr>
              <a:t>店の商品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384693" y="5134173"/>
            <a:ext cx="2699564" cy="541507"/>
          </a:xfrm>
          <a:prstGeom prst="roundRect">
            <a:avLst>
              <a:gd name="adj" fmla="val 10131"/>
            </a:avLst>
          </a:prstGeom>
          <a:noFill/>
          <a:ln w="28575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357261" y="4804989"/>
            <a:ext cx="2726996" cy="3017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357261" y="4804989"/>
            <a:ext cx="792480" cy="301752"/>
          </a:xfrm>
          <a:prstGeom prst="roundRect">
            <a:avLst>
              <a:gd name="adj" fmla="val 15151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  <a:ea typeface="Noto Sans JP"/>
                <a:cs typeface="Noto Sans JP"/>
              </a:rPr>
              <a:t>家の薬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5897880"/>
            <a:ext cx="1463040" cy="2762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判定は3色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882140" y="6007608"/>
            <a:ext cx="173736" cy="17373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138172" y="5897880"/>
            <a:ext cx="1996440" cy="2762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買っても問題なさそう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408932" y="6007608"/>
            <a:ext cx="173736" cy="173736"/>
          </a:xfrm>
          <a:prstGeom prst="roundRect">
            <a:avLst>
              <a:gd name="adj" fmla="val 50000"/>
            </a:avLst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64964" y="5897880"/>
            <a:ext cx="1615440" cy="2762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買わなくて大丈夫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54724" y="6007608"/>
            <a:ext cx="173736" cy="173736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10756" y="5897880"/>
            <a:ext cx="1043940" cy="2762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注意が必要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685800"/>
            <a:ext cx="7315200" cy="368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2563EB"/>
                </a:solidFill>
                <a:latin typeface="Noto Sans JP"/>
                <a:ea typeface="Noto Sans JP"/>
                <a:cs typeface="Noto Sans JP"/>
              </a:rPr>
              <a:t>できること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00200"/>
            <a:ext cx="6858000" cy="4051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94A3B8"/>
                </a:solidFill>
                <a:latin typeface="Noto Sans JP"/>
                <a:ea typeface="Noto Sans JP"/>
                <a:cs typeface="Noto Sans JP"/>
              </a:rPr>
              <a:t>「薬と化粧品、どっちが先？」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240280"/>
            <a:ext cx="548640" cy="4572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514600"/>
            <a:ext cx="6858000" cy="1325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薬や化粧品を使う順番や、</a:t>
            </a:r>
          </a:p>
          <a:p>
            <a:pPr algn="l">
              <a:lnSpc>
                <a:spcPct val="100000"/>
              </a:lnSpc>
            </a:pPr>
            <a:r>
              <a:rPr sz="36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詳しい使い方がわかる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023360"/>
            <a:ext cx="6858000" cy="736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処方薬と化粧品を一緒に使う日も、</a:t>
            </a:r>
          </a:p>
          <a:p>
            <a:pPr algn="l">
              <a:lnSpc>
                <a:spcPct val="100000"/>
              </a:lnSpc>
            </a:pPr>
            <a:r>
              <a:rPr sz="20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どれから、どう塗ればいいか迷わない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18417" y="466344"/>
            <a:ext cx="2949733" cy="5925312"/>
          </a:xfrm>
          <a:prstGeom prst="roundRect">
            <a:avLst>
              <a:gd name="adj" fmla="val 6819"/>
            </a:avLst>
          </a:prstGeom>
          <a:solidFill>
            <a:srgbClr val="FFFFFF"/>
          </a:solidFill>
          <a:ln w="12700">
            <a:solidFill>
              <a:srgbClr val="D9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8" name="Picture 7" descr="routine-crop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00713" y="548640"/>
            <a:ext cx="2785141" cy="576072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8437289" y="594725"/>
            <a:ext cx="2711989" cy="472379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450846" y="1101669"/>
            <a:ext cx="362068" cy="4228368"/>
          </a:xfrm>
          <a:prstGeom prst="roundRect">
            <a:avLst>
              <a:gd name="adj" fmla="val 15152"/>
            </a:avLst>
          </a:prstGeom>
          <a:noFill/>
          <a:ln w="28575">
            <a:solidFill>
              <a:srgbClr val="1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423414" y="772485"/>
            <a:ext cx="995679" cy="301752"/>
          </a:xfrm>
          <a:prstGeom prst="roundRect">
            <a:avLst>
              <a:gd name="adj" fmla="val 15151"/>
            </a:avLst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  <a:ea typeface="Noto Sans JP"/>
                <a:cs typeface="Noto Sans JP"/>
              </a:rPr>
              <a:t>塗る順番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685800"/>
            <a:ext cx="7315200" cy="368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2563EB"/>
                </a:solidFill>
                <a:latin typeface="Noto Sans JP"/>
                <a:ea typeface="Noto Sans JP"/>
                <a:cs typeface="Noto Sans JP"/>
              </a:rPr>
              <a:t>使い方 1｜店で選ぶ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69848"/>
            <a:ext cx="10058400" cy="552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家で一度登録すれば、店では撮るだけ。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902970" y="2212848"/>
            <a:ext cx="22860" cy="3108959"/>
          </a:xfrm>
          <a:prstGeom prst="rect">
            <a:avLst/>
          </a:prstGeom>
          <a:solidFill>
            <a:srgbClr val="C9D0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675120" y="2057400"/>
            <a:ext cx="45720" cy="1147571"/>
          </a:xfrm>
          <a:prstGeom prst="rect">
            <a:avLst/>
          </a:prstGeom>
          <a:solidFill>
            <a:srgbClr val="C9D0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417320" y="2898648"/>
            <a:ext cx="5074920" cy="31305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AIが成分表示を読み取る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984248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800" b="1">
                <a:solidFill>
                  <a:srgbClr val="FFFFFF"/>
                </a:solidFill>
                <a:latin typeface="Noto Sans JP"/>
                <a:ea typeface="Noto Sans JP"/>
                <a:cs typeface="Noto Sans JP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20" y="2002536"/>
            <a:ext cx="2743200" cy="31305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家で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2377440"/>
            <a:ext cx="5074920" cy="5156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薬・化粧品を撮って登録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49440" y="2020824"/>
            <a:ext cx="4556455" cy="4051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自分だけの薬データベースができる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49440" y="2450591"/>
            <a:ext cx="4556455" cy="6629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薬の成分がわかるだけでなく、</a:t>
            </a:r>
          </a:p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残りの量も管理できる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675120" y="3611879"/>
            <a:ext cx="45720" cy="1147572"/>
          </a:xfrm>
          <a:prstGeom prst="rect">
            <a:avLst/>
          </a:prstGeom>
          <a:solidFill>
            <a:srgbClr val="C9D0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417320" y="4453127"/>
            <a:ext cx="5074920" cy="31305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AIが家のものと照らし合わせる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3538727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800" b="1">
                <a:solidFill>
                  <a:srgbClr val="FFFFFF"/>
                </a:solidFill>
                <a:latin typeface="Noto Sans JP"/>
                <a:ea typeface="Noto Sans JP"/>
                <a:cs typeface="Noto Sans JP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20" y="3557015"/>
            <a:ext cx="2743200" cy="31305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店で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17320" y="3931920"/>
            <a:ext cx="5074920" cy="5156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気になる商品を撮る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49440" y="3575303"/>
            <a:ext cx="4556455" cy="4051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撮るだけで、すぐ確かめられる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49440" y="4005072"/>
            <a:ext cx="4556455" cy="6629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商品名の入力も検索もいらない</a:t>
            </a:r>
          </a:p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店先で成分表示を1枚撮れば済む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675120" y="5166359"/>
            <a:ext cx="45720" cy="1147572"/>
          </a:xfrm>
          <a:prstGeom prst="rect">
            <a:avLst/>
          </a:prstGeom>
          <a:solidFill>
            <a:srgbClr val="C9D0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17320" y="6007608"/>
            <a:ext cx="5074920" cy="31305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3色の判定と、成分名つきの理由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5800" y="5093207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800" b="1">
                <a:solidFill>
                  <a:srgbClr val="FFFFFF"/>
                </a:solidFill>
                <a:latin typeface="Noto Sans JP"/>
                <a:ea typeface="Noto Sans JP"/>
                <a:cs typeface="Noto Sans JP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17320" y="5111496"/>
            <a:ext cx="2743200" cy="31305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その場で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17320" y="5486400"/>
            <a:ext cx="5074920" cy="5156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買うべきかの目安が出る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9440" y="5129783"/>
            <a:ext cx="4556455" cy="4051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理由に根拠と出典を添える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49440" y="5559552"/>
            <a:ext cx="4556455" cy="6629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根拠の薄い推測は、最初から出さない</a:t>
            </a:r>
          </a:p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表示された理由は、安心して読める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685800"/>
            <a:ext cx="7315200" cy="368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2563EB"/>
                </a:solidFill>
                <a:latin typeface="Noto Sans JP"/>
                <a:ea typeface="Noto Sans JP"/>
                <a:cs typeface="Noto Sans JP"/>
              </a:rPr>
              <a:t>使い方 2｜家で使う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69848"/>
            <a:ext cx="10058400" cy="552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登録した薬と体質から、毎日の使い方がわかる。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902970" y="2212848"/>
            <a:ext cx="22860" cy="3108959"/>
          </a:xfrm>
          <a:prstGeom prst="rect">
            <a:avLst/>
          </a:prstGeom>
          <a:solidFill>
            <a:srgbClr val="C9D0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675120" y="2057400"/>
            <a:ext cx="45720" cy="1147571"/>
          </a:xfrm>
          <a:prstGeom prst="rect">
            <a:avLst/>
          </a:prstGeom>
          <a:solidFill>
            <a:srgbClr val="C9D0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417320" y="2898648"/>
            <a:ext cx="5074920" cy="31305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薬・化粧品は撮るだけ、体質は設定から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984248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800" b="1">
                <a:solidFill>
                  <a:srgbClr val="FFFFFF"/>
                </a:solidFill>
                <a:latin typeface="Noto Sans JP"/>
                <a:ea typeface="Noto Sans JP"/>
                <a:cs typeface="Noto Sans JP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20" y="2002536"/>
            <a:ext cx="2743200" cy="31305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家で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2377440"/>
            <a:ext cx="5074920" cy="5156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薬・化粧品と体質を登録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49440" y="2020824"/>
            <a:ext cx="4556455" cy="4051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悩みまで入れて、パーソナライズ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49440" y="2450591"/>
            <a:ext cx="4556455" cy="6629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体質・年代・性別のほかに、</a:t>
            </a:r>
          </a:p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朝は手早く済ませたい、といった悩みも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675120" y="3611879"/>
            <a:ext cx="45720" cy="1147572"/>
          </a:xfrm>
          <a:prstGeom prst="rect">
            <a:avLst/>
          </a:prstGeom>
          <a:solidFill>
            <a:srgbClr val="C9D0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85800" y="3538727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800" b="1">
                <a:solidFill>
                  <a:srgbClr val="FFFFFF"/>
                </a:solidFill>
                <a:latin typeface="Noto Sans JP"/>
                <a:ea typeface="Noto Sans JP"/>
                <a:cs typeface="Noto Sans JP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17320" y="3557015"/>
            <a:ext cx="2743200" cy="31305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アプリが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20" y="3931920"/>
            <a:ext cx="5074920" cy="5156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その人に合った使い方を考える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9440" y="3575303"/>
            <a:ext cx="4556455" cy="4051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手順ごとに、使い方の説明が付く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49440" y="4005072"/>
            <a:ext cx="4556455" cy="6629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その順番にする理由と、</a:t>
            </a:r>
          </a:p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使うときのコツがわかる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675120" y="5166359"/>
            <a:ext cx="45720" cy="1147572"/>
          </a:xfrm>
          <a:prstGeom prst="rect">
            <a:avLst/>
          </a:prstGeom>
          <a:solidFill>
            <a:srgbClr val="C9D0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417320" y="6007608"/>
            <a:ext cx="5074920" cy="31305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その日に使うものが、使う順に並ぶ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85800" y="5093207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800" b="1">
                <a:solidFill>
                  <a:srgbClr val="FFFFFF"/>
                </a:solidFill>
                <a:latin typeface="Noto Sans JP"/>
                <a:ea typeface="Noto Sans JP"/>
                <a:cs typeface="Noto Sans JP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17320" y="5111496"/>
            <a:ext cx="2743200" cy="31305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毎日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17320" y="5486400"/>
            <a:ext cx="5074920" cy="5156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順番と使い方が表示される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49440" y="5129783"/>
            <a:ext cx="4556455" cy="4051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薬を使ったかをチェックで記録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9440" y="5559552"/>
            <a:ext cx="4556455" cy="6629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朝・昼・夜ごとにチェックを付けて、</a:t>
            </a:r>
          </a:p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7日分を見返せる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868680"/>
            <a:ext cx="12191695" cy="368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2563EB"/>
                </a:solidFill>
                <a:latin typeface="Noto Sans JP"/>
                <a:ea typeface="Noto Sans JP"/>
                <a:cs typeface="Noto Sans JP"/>
              </a:rPr>
              <a:t>Overlai が目指すこと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1371600"/>
            <a:ext cx="12191695" cy="99440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54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重ねる前に、重ねて見る。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2788920"/>
            <a:ext cx="3401568" cy="2514600"/>
          </a:xfrm>
          <a:prstGeom prst="roundRect">
            <a:avLst>
              <a:gd name="adj" fmla="val 9090"/>
            </a:avLst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88720" y="3108960"/>
            <a:ext cx="2834640" cy="4787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買い重ねる前に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3794760"/>
            <a:ext cx="2834640" cy="6629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もう家にある？</a:t>
            </a:r>
          </a:p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名前違いの同じ薬は？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4754880"/>
            <a:ext cx="2834640" cy="2578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2563EB"/>
                </a:solidFill>
                <a:latin typeface="Noto Sans JP"/>
                <a:ea typeface="Noto Sans JP"/>
                <a:cs typeface="Noto Sans JP"/>
              </a:rPr>
              <a:t>重複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98264" y="2788920"/>
            <a:ext cx="3401568" cy="2514600"/>
          </a:xfrm>
          <a:prstGeom prst="roundRect">
            <a:avLst>
              <a:gd name="adj" fmla="val 9090"/>
            </a:avLst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64024" y="3108960"/>
            <a:ext cx="2834640" cy="4787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塗り重ねる前に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64024" y="3794760"/>
            <a:ext cx="2834640" cy="6629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一緒に使っていい？</a:t>
            </a:r>
          </a:p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どれを先に塗る？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64024" y="4754880"/>
            <a:ext cx="2834640" cy="2578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2563EB"/>
                </a:solidFill>
                <a:latin typeface="Noto Sans JP"/>
                <a:ea typeface="Noto Sans JP"/>
                <a:cs typeface="Noto Sans JP"/>
              </a:rPr>
              <a:t>組み合わせ・塗る順番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73568" y="2788920"/>
            <a:ext cx="3401568" cy="2514600"/>
          </a:xfrm>
          <a:prstGeom prst="roundRect">
            <a:avLst>
              <a:gd name="adj" fmla="val 9090"/>
            </a:avLst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39328" y="3108960"/>
            <a:ext cx="2834640" cy="4787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一緒に飲む前に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39328" y="3794760"/>
            <a:ext cx="2834640" cy="6629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今飲んでいる薬と</a:t>
            </a:r>
          </a:p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一緒で大丈夫？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39328" y="4754880"/>
            <a:ext cx="2834640" cy="2578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2563EB"/>
                </a:solidFill>
                <a:latin typeface="Noto Sans JP"/>
                <a:ea typeface="Noto Sans JP"/>
                <a:cs typeface="Noto Sans JP"/>
              </a:rPr>
              <a:t>飲み合わせ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0" y="5715000"/>
            <a:ext cx="12191695" cy="368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肌の治療を続ける人も、家族の薬を買う人も、店頭で迷わない毎日へ。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1097280"/>
            <a:ext cx="12191695" cy="4787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店で撮るだけで、家の薬・化粧品と重ねて判定する。</a:t>
            </a:r>
          </a:p>
        </p:txBody>
      </p:sp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29507" y="2103120"/>
            <a:ext cx="1524000" cy="1524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183987" y="2128519"/>
            <a:ext cx="3561080" cy="14732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0" b="0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Overlai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4069080"/>
            <a:ext cx="12191695" cy="6261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4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重ねる前に、重ねて見る。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053328"/>
            <a:ext cx="8229600" cy="2762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鈴鹿工業高等専門学校　井上 高志・濱田 圭太郎・杉本 隼都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314432" y="4480560"/>
            <a:ext cx="1280160" cy="128016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12700">
            <a:solidFill>
              <a:srgbClr val="D9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8" name="Picture 7" descr="q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0152" y="4526280"/>
            <a:ext cx="1188720" cy="11887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0040112" y="5852160"/>
            <a:ext cx="1828800" cy="2578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実機を試す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