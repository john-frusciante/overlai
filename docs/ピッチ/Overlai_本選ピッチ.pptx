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鈴鹿高専の、Overlaiです。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ステロイドの塗り薬を使う濱田と杉本は、ある日、化粧水を手に取って、手が止まりました。薬を塗った肌に使っていいのか。どっちが先か。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井上は、風邪薬を買って帰ると、似た薬がもう家にありました。名前が違うと、同じ薬だと気づけないんです。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どの迷いも、答えは家にあるもの次第。なのに、店頭で確かめる方法がなかったんです。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だから作りました。家の薬と化粧品を登録しておけば、店頭で撮るだけで、生成AIが重ねて判定します。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合わない組み合わせには理由つきで注意を出し、塗る順番まで組み立てます。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名前が違っても、成分で重なりに気づけます。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Overlai。買う前に、家の棚を重ねて見る。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f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005840"/>
            <a:ext cx="4937760" cy="4937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ユメカタリ 学生生成AIコンテスト 2026｜開発部門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4884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21992" y="2171700"/>
            <a:ext cx="4114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0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Overlai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買う前に、家の棚を重ねて見る。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鈴鹿工業高等専門学校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井上 高志・濱田 圭太郎・杉本 隼都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エピソード 1｜組み合わせの迷い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濱田・杉本｜肌が弱く、ステロイドの塗り薬を使っている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ある日、ドラッグストアで化粧水を手に取って、手が止まった。</a:t>
            </a:r>
          </a:p>
        </p:txBody>
      </p:sp>
      <p:pic>
        <p:nvPicPr>
          <p:cNvPr id="5" name="Picture 4" descr="cloud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40"/>
            <a:ext cx="7589520" cy="4032854"/>
          </a:xfrm>
          <a:prstGeom prst="rect">
            <a:avLst/>
          </a:prstGeom>
        </p:spPr>
      </p:pic>
      <p:pic>
        <p:nvPicPr>
          <p:cNvPr id="6" name="Picture 5" descr="peopl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146" y="4343400"/>
            <a:ext cx="3725333" cy="251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6022" y="3662627"/>
            <a:ext cx="6583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薬を塗った肌に、使っていい？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6022" y="4449011"/>
            <a:ext cx="6583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薬と化粧品、どっちが先？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2410C"/>
                </a:solidFill>
                <a:latin typeface="Noto Sans JP"/>
                <a:ea typeface="Noto Sans JP"/>
                <a:cs typeface="Noto Sans JP"/>
              </a:rPr>
              <a:t>エピソード 2｜重複の迷い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井上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風邪薬を買って家に帰ると、似たような薬がもう家にあった。</a:t>
            </a:r>
          </a:p>
        </p:txBody>
      </p:sp>
      <p:pic>
        <p:nvPicPr>
          <p:cNvPr id="5" name="Picture 4" descr="cloud-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40"/>
            <a:ext cx="7589520" cy="4032854"/>
          </a:xfrm>
          <a:prstGeom prst="rect">
            <a:avLst/>
          </a:prstGeom>
        </p:spPr>
      </p:pic>
      <p:pic>
        <p:nvPicPr>
          <p:cNvPr id="6" name="Picture 5" descr="peopl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5230" y="4343400"/>
            <a:ext cx="1746250" cy="251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6022" y="3662627"/>
            <a:ext cx="6583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家に、同じような薬あったっけ？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6022" y="4449011"/>
            <a:ext cx="6583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名前は違うけど、中身は同じ？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88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94A3B8"/>
                </a:solidFill>
                <a:latin typeface="Noto Sans JP"/>
                <a:ea typeface="Noto Sans JP"/>
                <a:cs typeface="Noto Sans JP"/>
              </a:rPr>
              <a:t>使っていい？　どっちが先？　もう家にある？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CBD5E1"/>
                </a:solidFill>
                <a:latin typeface="Noto Sans JP"/>
                <a:ea typeface="Noto Sans JP"/>
                <a:cs typeface="Noto Sans JP"/>
              </a:rPr>
              <a:t>どの迷いも、答えは「家にあるもの」次第。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26080"/>
            <a:ext cx="82296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7899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なのに、店頭で家にあるものと</a:t>
            </a:r>
          </a:p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重ねて確かめる方法がなかった。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だから、作りました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838200" cy="838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77924" y="1202690"/>
            <a:ext cx="2514600" cy="855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>
                <a:solidFill>
                  <a:srgbClr val="1B2A4A"/>
                </a:solidFill>
                <a:latin typeface="Noto Sans JP"/>
                <a:ea typeface="Noto Sans JP"/>
                <a:cs typeface="Noto Sans JP"/>
              </a:rPr>
              <a:t>Overlai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463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Overlay（重ねる）＋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6949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店頭で撮るだけで、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家にあるものと重ねて判定する。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3133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7947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家の薬と化粧品を登録する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25196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処方薬・市販薬・スキンケアをひとつの在庫に（残量・期限も管理）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0001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6634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店頭で、商品の成分表示を撮る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512064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商品ごとに書式がばらばらな成分表示も、そのまま読み取る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57520" y="4727448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生成AI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56869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53212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家の在庫と重ねて判定する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98932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青・黄・赤の3色と、成分名つきの理由で示す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8720" y="5596128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生成AI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50224" y="420624"/>
            <a:ext cx="2784282" cy="5833872"/>
          </a:xfrm>
          <a:prstGeom prst="roundRect">
            <a:avLst>
              <a:gd name="adj" fmla="val 722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9" name="Picture 18" descr="stock-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502920"/>
            <a:ext cx="2619690" cy="5669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50224" y="6336792"/>
            <a:ext cx="2779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Noto Sans JP"/>
                <a:ea typeface="Noto Sans JP"/>
                <a:cs typeface="Noto Sans JP"/>
              </a:rPr>
              <a:t>在庫画面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エピソード 1 への答え｜組み合わせ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合わない組み合わせは、</a:t>
            </a:r>
          </a:p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理由つきで知らせる。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例）顔に塗っているステロイド軟膏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　　× エタノールを含む化粧水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　　→ 刺激が強くなる可能性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069080"/>
            <a:ext cx="548640" cy="457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塗る順番も、</a:t>
            </a:r>
          </a:p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家にあるもので組み立てる。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40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順番はAIに任せず、剤形からルールで決めています。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赤の判定には、必ず薬剤師・皮膚科への相談を添えます。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603504"/>
            <a:ext cx="2698745" cy="5193792"/>
          </a:xfrm>
          <a:prstGeom prst="roundRect">
            <a:avLst>
              <a:gd name="adj" fmla="val 745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Picture 9" descr="red-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685800"/>
            <a:ext cx="2534153" cy="5029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290304" y="603504"/>
            <a:ext cx="2596064" cy="5193792"/>
          </a:xfrm>
          <a:prstGeom prst="roundRect">
            <a:avLst>
              <a:gd name="adj" fmla="val 774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2" name="Picture 11" descr="routine-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685800"/>
            <a:ext cx="2431472" cy="5029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72784" y="5943600"/>
            <a:ext cx="56144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Noto Sans JP"/>
                <a:ea typeface="Noto Sans JP"/>
                <a:cs typeface="Noto Sans JP"/>
              </a:rPr>
              <a:t>実際の判定画面（市販の薬用化粧水）・ルーティン画面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2410C"/>
                </a:solidFill>
                <a:latin typeface="Noto Sans JP"/>
                <a:ea typeface="Noto Sans JP"/>
                <a:cs typeface="Noto Sans JP"/>
              </a:rPr>
              <a:t>エピソード 2 への答え｜重複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132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商品名が違っても、</a:t>
            </a:r>
          </a:p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成分で重なりに気づく。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例）店頭の解熱鎮痛薬 × 家の「イブA錠」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　　→ 同じイブプロフェン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069080"/>
            <a:ext cx="548640" cy="457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7132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家にある薬で足りるなら、</a:t>
            </a:r>
          </a:p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Noto Sans JP"/>
                <a:ea typeface="Noto Sans JP"/>
                <a:cs typeface="Noto Sans JP"/>
              </a:rPr>
              <a:t>買わなくていいと伝える。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4068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Noto Sans JP"/>
                <a:ea typeface="Noto Sans JP"/>
                <a:cs typeface="Noto Sans JP"/>
              </a:rPr>
              <a:t>重なっている家の薬を、その場で並べて見せます。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67344" y="420624"/>
            <a:ext cx="2975694" cy="5833872"/>
          </a:xfrm>
          <a:prstGeom prst="roundRect">
            <a:avLst>
              <a:gd name="adj" fmla="val 676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9" name="Picture 8" descr="yellow-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502920"/>
            <a:ext cx="2811102" cy="5669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67344" y="6336792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Noto Sans JP"/>
                <a:ea typeface="Noto Sans JP"/>
                <a:cs typeface="Noto Sans JP"/>
              </a:rPr>
              <a:t>実際の判定画面（市販の解熱鎮痛薬）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CBD5E1"/>
                </a:solidFill>
                <a:latin typeface="Noto Sans JP"/>
                <a:ea typeface="Noto Sans JP"/>
                <a:cs typeface="Noto Sans JP"/>
              </a:rPr>
              <a:t>組み合わせも、重複も、店頭で。</a:t>
            </a:r>
          </a:p>
        </p:txBody>
      </p:sp>
      <p:pic>
        <p:nvPicPr>
          <p:cNvPr id="3" name="Picture 2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103120"/>
            <a:ext cx="1524000" cy="15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57800" y="2128519"/>
            <a:ext cx="4572000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Overlai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6908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買う前に、家の棚を重ねて見る。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533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BD5E1"/>
                </a:solidFill>
                <a:latin typeface="Noto Sans JP"/>
                <a:ea typeface="Noto Sans JP"/>
                <a:cs typeface="Noto Sans JP"/>
              </a:rPr>
              <a:t>鈴鹿工業高等専門学校　井上 高志・濱田 圭太郎・杉本 隼都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14432" y="457200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8" name="Picture 7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4617720"/>
            <a:ext cx="1188720" cy="1188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31552" y="59436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Noto Sans JP"/>
                <a:ea typeface="Noto Sans JP"/>
                <a:cs typeface="Noto Sans JP"/>
              </a:rPr>
              <a:t>実機を試す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