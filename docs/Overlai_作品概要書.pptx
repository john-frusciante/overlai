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5ce7830b774446" /><Relationship Type="http://schemas.openxmlformats.org/officeDocument/2006/relationships/extended-properties" Target="/docProps/app.xml" Id="R2b270280eb5545cf" /><Relationship Type="http://schemas.openxmlformats.org/officeDocument/2006/relationships/officeDocument" Target="/ppt/presentation.xml" Id="R7075012296e140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7bbcf8c8b444d7"/>
  </p:sldMasterIdLst>
  <p:notesMasterIdLst>
    <p:notesMasterId xmlns:r="http://schemas.openxmlformats.org/officeDocument/2006/relationships" r:id="R5f65a175eab14567"/>
  </p:notesMasterIdLst>
  <p:sldIdLst>
    <p:sldId xmlns:r="http://schemas.openxmlformats.org/officeDocument/2006/relationships" id="256" r:id="Rdeff463811054a8c"/>
    <p:sldId xmlns:r="http://schemas.openxmlformats.org/officeDocument/2006/relationships" id="257" r:id="Rf6e90e74a3084dc2"/>
    <p:sldId xmlns:r="http://schemas.openxmlformats.org/officeDocument/2006/relationships" id="258" r:id="Rf763559c89104c23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5416528b3a43d4" /><Relationship Type="http://schemas.openxmlformats.org/officeDocument/2006/relationships/slideMaster" Target="/ppt/slideMasters/slideMaster1.xml" Id="R4b7bbcf8c8b444d7" /><Relationship Type="http://schemas.openxmlformats.org/officeDocument/2006/relationships/notesMaster" Target="/ppt/notesMasters/notesMaster1.xml" Id="R5f65a175eab14567" /><Relationship Type="http://schemas.openxmlformats.org/officeDocument/2006/relationships/presProps" Target="/ppt/presProps.xml" Id="R939aad4ae24a433a" /><Relationship Type="http://schemas.openxmlformats.org/officeDocument/2006/relationships/tableStyles" Target="/ppt/tableStyles.xml" Id="R6344e17a7ee844e2" /><Relationship Type="http://schemas.openxmlformats.org/officeDocument/2006/relationships/slide" Target="/ppt/slides/slide1.xml" Id="Rdeff463811054a8c" /><Relationship Type="http://schemas.openxmlformats.org/officeDocument/2006/relationships/slide" Target="/ppt/slides/slide2.xml" Id="Rf6e90e74a3084dc2" /><Relationship Type="http://schemas.openxmlformats.org/officeDocument/2006/relationships/slide" Target="/ppt/slides/slide3.xml" Id="Rf763559c89104c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7da008e91547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b5e434e8034787" /><Relationship Type="http://schemas.openxmlformats.org/officeDocument/2006/relationships/notesMaster" Target="/ppt/notesMasters/notesMaster1.xml" Id="Re5aed01a25a14d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5d10ab62e644ae" /><Relationship Type="http://schemas.openxmlformats.org/officeDocument/2006/relationships/notesMaster" Target="/ppt/notesMasters/notesMaster1.xml" Id="Rfb1d34cf9f1941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1921ded345481f" /><Relationship Type="http://schemas.openxmlformats.org/officeDocument/2006/relationships/notesMaster" Target="/ppt/notesMasters/notesMaster1.xml" Id="Re54763ce5dcd42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5d60e917547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46cf10088c41f1" /><Relationship Type="http://schemas.openxmlformats.org/officeDocument/2006/relationships/slideLayout" Target="/ppt/slideLayouts/slideLayout1.xml" Id="Re2ab5292c8604a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ab5292c8604a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0eb520bf74511" /><Relationship Type="http://schemas.openxmlformats.org/officeDocument/2006/relationships/image" Target="/ppt/media/image.png" Id="R1e76ed0d20a64b5b" /><Relationship Type="http://schemas.openxmlformats.org/officeDocument/2006/relationships/image" Target="/ppt/media/image.svg" Id="R87b7d806c764485d" /><Relationship Type="http://schemas.openxmlformats.org/officeDocument/2006/relationships/notesSlide" Target="/ppt/notesSlides/notesSlide1.xml" Id="Rec0042ff3aed4e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9da6761d84ebf" /><Relationship Type="http://schemas.openxmlformats.org/officeDocument/2006/relationships/image" Target="/ppt/media/image2.png" Id="R1d714d13b1364611" /><Relationship Type="http://schemas.openxmlformats.org/officeDocument/2006/relationships/image" Target="/ppt/media/image2.svg" Id="R1a7a0df842264877" /><Relationship Type="http://schemas.openxmlformats.org/officeDocument/2006/relationships/image" Target="/ppt/media/image3.png" Id="R57bec03c2e40477c" /><Relationship Type="http://schemas.openxmlformats.org/officeDocument/2006/relationships/notesSlide" Target="/ppt/notesSlides/notesSlide2.xml" Id="R3c1df81d95f644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d92cc31ac45d7" /><Relationship Type="http://schemas.openxmlformats.org/officeDocument/2006/relationships/image" Target="/ppt/media/image4.png" Id="Re706d5fb018d4166" /><Relationship Type="http://schemas.openxmlformats.org/officeDocument/2006/relationships/image" Target="/ppt/media/image3.svg" Id="R82b6718683f24577" /><Relationship Type="http://schemas.openxmlformats.org/officeDocument/2006/relationships/notesSlide" Target="/ppt/notesSlides/notesSlide3.xml" Id="R3ac31d8b564845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58E9CC-4B46-4329-A031-15FBD39E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4300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CA7B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64D62-6569-478E-BCF0-453FD1AA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9125"/>
            <a:ext cx="114300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27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F72AB-BE1D-43C1-888B-5387F09D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53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2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OVERLAI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5B6BA-533A-442B-948E-BBDE8DD8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買う前に、家の棚を重ねて見る。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22724-274C-4FF9-853E-6EFA548C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38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675" b="1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応募者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26FA9-F3A3-4A61-95CB-773971BB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239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750" b="1">
                <a:solidFill>
                  <a:srgbClr val="142039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42039"/>
                </a:solidFill>
                <a:latin typeface="Yu Gothic"/>
                <a:ea typeface="Yu Gothic"/>
                <a:cs typeface="Yu Gothic"/>
              </a:rPr>
              <a:t>井上 高志・濱田 圭太郎・杉本 隼都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750" b="1">
                <a:solidFill>
                  <a:srgbClr val="142039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142039"/>
                </a:solidFill>
                <a:latin typeface="Yu Gothic"/>
                <a:ea typeface="Yu Gothic"/>
                <a:cs typeface="Yu Gothic"/>
              </a:rPr>
              <a:t>鈴鹿工業高等専門学校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ed0d20a64b5b">
            <a:extLst>
              <a:ext uri="{96DAC541-7B7A-43D3-8B79-37D633B846F1}">
                <asvg:svgBlip xmlns:asvg="http://schemas.microsoft.com/office/drawing/2016/SVG/main" r:embed="R87b7d806c76448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62700" y="457200"/>
            <a:ext cx="600075" cy="6000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59202-2C57-45AA-872A-98E77E73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085850"/>
            <a:ext cx="600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563" b="1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563" b="1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実機を試す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A1148-0E2F-44D3-BDD5-C0ED67BA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27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7D464-8A97-4E89-98EC-5E54380A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私たちがつくった理由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8F277-1643-4CB5-878F-1136FECE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薬も化粧品も使うのに、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確かめる場所は分かれていた。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77E30-4167-4D3E-A149-67A3FF5A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633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Overlaiは、私たち自身が感じた二つの迷いから始まりました。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C63D5-A79A-458A-89BD-002A3DD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57575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C76B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976E2-06D0-4FCE-8B69-530D230E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57575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92D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FF82C-9AA5-4994-87DB-E126E696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井上の原体験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B549C-1766-4D3A-A323-1F782EA8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619500"/>
            <a:ext cx="1905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杉本・濱田の原体験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6D78B-C1E1-486C-87BF-CB2F0BA9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147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同じような風邪薬が、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家にいくつもあった。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B967C-0792-43F1-8784-24161804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91477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ステロイドを使う肌に、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何をどう重ねればいいのか。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76047-1E70-46C5-8D84-DD4D0541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900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薬箱には、商品名が違っても同じような効果の風邪薬が複数ありました。店頭では家の残りを思い出せず、買ったあとで重複に気づきます。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5192A6-A46D-46D7-9799-378148D1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7053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900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ステロイド外用薬を使っていると、普段の化粧品と一緒に使ってよいのか、薬と化粧品のどちらを先に塗るのか判断できませんでした。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7D9A1D-C6D4-4EC1-97A4-2363528D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家にある薬と比べられれば、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買う前に気づけた。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25D8D4-3F44-40E6-BCCF-00FBF3C3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7340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商品説明だけでは、薬を使う自分に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合うか分からない。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02F3C9-E8CE-4C1E-A2D0-79715DB4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64198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5FD68A-E1BF-4D57-A26C-174A64D2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294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調べて分かったこと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7FC75E-ECA0-4FFB-8DAA-035DB09E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677227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 b="1">
                <a:solidFill>
                  <a:srgbClr val="142039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42039"/>
                </a:solidFill>
                <a:latin typeface="Yu Gothic"/>
                <a:ea typeface="Yu Gothic"/>
                <a:cs typeface="Yu Gothic"/>
              </a:rPr>
              <a:t>薬・化粧品・商品を個別に扱うサービスが中心でした。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825" b="1">
                <a:solidFill>
                  <a:srgbClr val="142039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42039"/>
                </a:solidFill>
                <a:latin typeface="Yu Gothic"/>
                <a:ea typeface="Yu Gothic"/>
                <a:cs typeface="Yu Gothic"/>
              </a:rPr>
              <a:t>家にある薬と化粧品をまとめ、店頭の商品と比べる仕組みは見つけられませんでした。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918B5-DF8B-478A-BB58-2665D1D2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72400"/>
            <a:ext cx="6419850" cy="1323975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17274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733916-D289-44D4-978F-382B2CDE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4862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でも、それを全部使う体は、ひとつしかない。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7DCF21-04B6-4672-84CC-6A2DEA0D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439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825" b="0">
                <a:solidFill>
                  <a:srgbClr val="D9E0EB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D9E0EB"/>
                </a:solidFill>
                <a:latin typeface="Yu Gothic"/>
                <a:ea typeface="Yu Gothic"/>
                <a:cs typeface="Yu Gothic"/>
              </a:rPr>
              <a:t>そこで、家にある薬と化粧品をひとまとめにし、新しく買う商品と重ねて見られるアプリをつくりました。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D137D3-01EC-433D-86BD-A810BD1C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0225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Overlai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51ED8E-5EC8-4EF4-875D-B9DC52A3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20225"/>
            <a:ext cx="563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店頭の商品を自宅在庫と照合し、重複や組み合わせ、使う順番を確かめるアプリ。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1DE4C5-25B8-42F6-B935-D06863C6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0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50702-7F91-417D-B593-83B8E58B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013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00" b="0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Overlai ／ 作品概要書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1BE36C-A84B-4332-96F0-0BA1CDFF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4013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00" b="0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15107581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379F15-F6A3-44B5-9774-0F869775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"/>
            <a:ext cx="114300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CA7B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78835-FF99-4CCD-AB77-CE7CCF3F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14300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27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44ECE-C22E-477C-8A50-D6B9090D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3875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2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OVERLAI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5AC3A-7B95-45BE-8110-F5FF108D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6096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買う前に、家の棚を重ねて見る。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2A648-0D55-4646-8ECC-5B34E0CB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0E797-6D4F-4615-8EB8-8B1DCE77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2746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14d13b1364611">
            <a:extLst>
              <a:ext uri="{96DAC541-7B7A-43D3-8B79-37D633B846F1}">
                <asvg:svgBlip xmlns:asvg="http://schemas.microsoft.com/office/drawing/2016/SVG/main" r:embed="R1a7a0df8422648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53200" y="409575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B0A8F-786D-4E72-B0D8-B4F5D446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Overlaiでできること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AC0C3-D3DD-40A4-89B0-8A942F16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商品の良し悪しではなく、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「わが家との関係」を見る。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F5F4A-BA22-4DE9-B5D5-EC04E0BA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438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5404F-437B-4219-B41F-2D846366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362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825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01  家にあるものを登録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1DF26-4FDF-4C43-AD6B-0C5A449C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895600"/>
            <a:ext cx="1438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8C9D0-E6BE-4F85-9985-D79D8FEE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105150"/>
            <a:ext cx="1362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825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02  店頭で成分表示を撮影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CB0DF-D707-42F6-A9CB-83C818B5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95600"/>
            <a:ext cx="1438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B3D22-FE97-4EB1-8A0C-319833E8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05150"/>
            <a:ext cx="1362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825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03  家の在庫と照合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A4829-5590-436B-BF87-2956A124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95600"/>
            <a:ext cx="1438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299C4-F5D2-45C0-A9AC-A7F50F16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05150"/>
            <a:ext cx="1362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825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04  3色と根拠で伝える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9E4CF-6A6C-4836-A532-AC44A6F0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同じ商品でも、家の在庫が変われば答えが変わる。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61D23-9F18-49CE-8A74-5C90AD1F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719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0000"/>
              </a:lnSpc>
              <a:buNone/>
              <a:defRPr sz="713" b="0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御岳百草丸を同じ条件で撮影し、在庫へ追加する前後を比較しました。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68C67-99D3-4A23-AECA-3BA8617C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425"/>
            <a:ext cx="2905125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BBD1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92B54-443C-497A-94D4-25542324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543425"/>
            <a:ext cx="2905125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5E3"/>
          </a:solidFill>
          <a:ln xmlns:a="http://schemas.openxmlformats.org/drawingml/2006/main" w="9525">
            <a:solidFill>
              <a:srgbClr val="EFCF9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F555E3-1F6E-41FF-9E20-D08CA745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在庫にない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3AA479-C7D9-407F-AD96-7B184734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492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御岳百草丸をスキャン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C555E0-AC57-4B9D-9886-B30B023D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● 登録在庫との重複なし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0BFEB-D9A3-4295-8425-D9044131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50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手持ちに胃腸薬がなく、薬効の重複が見つからなかったため。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DD8F7D-EFAE-437E-83F3-1AC9BCAC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7625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C76B00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C76B00"/>
                </a:solidFill>
                <a:latin typeface="Yu Gothic"/>
                <a:ea typeface="Yu Gothic"/>
                <a:cs typeface="Yu Gothic"/>
              </a:rPr>
              <a:t>在庫にある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CAE743-04D0-4A27-AFFB-38F75F4C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11492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同じ御岳百草丸をスキャン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17E3C3-9DB6-4321-A619-EF174B3F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524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C76B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C76B00"/>
                </a:solidFill>
                <a:latin typeface="Yu Gothic"/>
                <a:ea typeface="Yu Gothic"/>
                <a:cs typeface="Yu Gothic"/>
              </a:rPr>
              <a:t>● 家にあります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2EB93B-A2F0-485C-A679-039ED8C1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9055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50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家に同じ商品があることを検出し、重複購入を知らせます。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47E233-3999-46E2-991C-232004EE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435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0773D6-963E-46C5-8D95-3C6DF005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626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00" b="0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在庫に追加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3FFD50-6A4B-4E7B-9EB3-D9BB05B0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641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4F84BA-FD67-481F-B307-9BD9535A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9173DD-A3AE-4037-B107-84880552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62725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863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商品は一度も変えていません。変えたのは、家の在庫だけです。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789C49-9BA0-4E94-8F4D-FDB67436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628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0E91A4-BC0D-4EBC-8037-DCAD91A7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247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● 青　重複が見つからない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341DFA-ED60-466B-859F-B7F594F0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71628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6B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451AD3-A78A-431C-8B7D-B3FDB360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73247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1">
                <a:solidFill>
                  <a:srgbClr val="C76B00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C76B00"/>
                </a:solidFill>
                <a:latin typeface="Yu Gothic"/>
                <a:ea typeface="Yu Gothic"/>
                <a:cs typeface="Yu Gothic"/>
              </a:rPr>
              <a:t>● 黄　家に同じものがある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4E4DED-96EB-4524-A37E-60ACEF6A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1628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2D2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25A38A-D0B8-4634-9040-A7A2F029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3247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1">
                <a:solidFill>
                  <a:srgbClr val="D92D20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D92D20"/>
                </a:solidFill>
                <a:latin typeface="Yu Gothic"/>
                <a:ea typeface="Yu Gothic"/>
                <a:cs typeface="Yu Gothic"/>
              </a:rPr>
              <a:t>● 赤　注意が必要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ec03c2e40477c"/>
          <a:srcRect xmlns:a="http://schemas.openxmlformats.org/drawingml/2006/main" l="0" t="17897" r="0" b="17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7858125"/>
            <a:ext cx="1409700" cy="1962150"/>
          </a:xfrm>
          <a:prstGeom xmlns:a="http://schemas.openxmlformats.org/drawingml/2006/main" prst="roundRect">
            <a:avLst>
              <a:gd name="adj" fmla="val 6757"/>
            </a:avLst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21957F-2724-40B1-A514-23130798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8962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理由を確かめ、買ったあとも迷わない。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4559C1-74FC-4B5A-832D-B71BB3F1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8353425"/>
            <a:ext cx="455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863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863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判定理由は、成分名と該当する在庫を示します。購入後は、ステロイド外用薬と化粧品も同じ在庫で管理し、剤形に基づいて塗る順番を案内します。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1B1042-6423-442E-A8EE-9894B677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9201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8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•  薬と化粧品を含む塗る順番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8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•  洗う順番・服薬記録・残量・期限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445445-7DC5-4016-AB7B-1DA65047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0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D91DB5-9310-44F8-8D00-0C07876D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013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00" b="0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Overlai ／ 家を基準に判断する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31F624-A0D0-42AA-8FC1-7674FEF0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4013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00" b="0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1584193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572E78-3342-4A63-A64E-9F21AD36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"/>
            <a:ext cx="114300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CA7B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B4A26-DC0F-43FC-AFF6-BF8D271C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14300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27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6B24E-7425-4453-8524-3AB9D9A8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3875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2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OVERLAI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42C54-2FA5-4A4A-A106-27EF257B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6096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必要なところだけにAIを使う。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D625D-71BE-4B59-AF4E-962B9A7E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B7968-81FE-425A-8773-1F7CCCBB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2746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6d5fb018d4166">
            <a:extLst>
              <a:ext uri="{96DAC541-7B7A-43D3-8B79-37D633B846F1}">
                <asvg:svgBlip xmlns:asvg="http://schemas.microsoft.com/office/drawing/2016/SVG/main" r:embed="R82b6718683f245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53200" y="409575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BB668-E67B-4C78-A117-059BE377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仕組みと安全設計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2213C-8605-4566-8F72-A6E0AC40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AIに任せる範囲を絞り、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判断を安定させる。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EFB83-64B4-49D2-9699-57765106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633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00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成分表示の読み取りと、家の在庫との関係を考える場面にAIを使います。剤形や日付から決められる処理は、ルールで固定しました。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86168-C1C9-455E-9E0C-B1612FFF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905125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68429-289F-416A-93C3-6906800C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524250"/>
            <a:ext cx="2905125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67424-4BAA-4CCE-8D54-623C1780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STEP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4B39B-2137-41CF-8188-C15E3813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画像から成分を読む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7D659-98F9-4A46-9FD0-8A884B30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238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商品名・成分・剤形を構造化して取り出します。読み取った内容は、判定前に利用者が確認できます。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0F520-7EB6-4091-8A1E-746C5079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7433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STEP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EDB23-0E69-4D00-90FE-78779A5D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057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家の在庫と照合する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58572-950E-4DCD-A8DA-08572A93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467225"/>
            <a:ext cx="238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抽出した成分と在庫を突き合わせ、重複や相互作用、塗り合わせの観点から3色を決めます。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C4910-C1E4-4A79-A745-3ED4CC5B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481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6BF92-11FE-4D48-92DC-97DA54B3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641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「読む」と「判断する」を分け、利用者自身が抽出結果を確かめられるようにしました。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092F4-50FD-4826-AF1A-D32B30BD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3086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89524-FA6E-4C3B-8E30-478CC068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24525"/>
            <a:ext cx="3086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68ABC-7D7D-40D0-9F95-D4149C28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308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3D0BFE-4D4B-4445-8919-B69B41E8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24525"/>
            <a:ext cx="308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74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723E1-03F9-4A01-A9AC-723B33D8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1502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AIが扱う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2E7694-F423-453A-BB39-9AAF0EF8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成分表示の読み取り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店頭商品と在庫の関係の判定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C47549-E6B5-4523-AAF3-4C4319D4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9150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ルールで決める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75212A-2821-4891-BBE5-61A62498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286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剤形に基づく塗る・洗う順番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使用期限、残量、服薬記録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6F304D-B766-4A64-B5BC-71430211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91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安全性を、AIへのお願いだけに委ねない。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987F52-5B73-4997-9384-8D2F357B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438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診断や治療判断は行いません。結果を言い切らず、根拠を人がたどれる形で示します。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179CE4-BF7E-4BA0-9212-72279A28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3762375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274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568F37-6881-4B1A-8202-29CB8596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105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出典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158370-A7B8-446C-B681-167B32D3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210550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D9E0E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D9E0EB"/>
                </a:solidFill>
                <a:latin typeface="Yu Gothic"/>
                <a:ea typeface="Yu Gothic"/>
                <a:cs typeface="Yu Gothic"/>
              </a:rPr>
              <a:t>薬の知識は、添付文書などの出典と一緒に管理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FC3898-EC59-46F7-8A8C-04AD8C03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05825"/>
            <a:ext cx="3324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51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7DF3CE-13AB-4C2E-AE67-9C10924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106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裏取り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62D48E-9FB2-42AE-BE87-D686BBA8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610600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D9E0E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D9E0EB"/>
                </a:solidFill>
                <a:latin typeface="Yu Gothic"/>
                <a:ea typeface="Yu Gothic"/>
                <a:cs typeface="Yu Gothic"/>
              </a:rPr>
              <a:t>入力からたどれない成分を理由から除外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54E1FA-CD63-4C69-8F79-ADD712D0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05875"/>
            <a:ext cx="3324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516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0E8CF6-E9BB-4C55-976B-216583FE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10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相談導線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2B0285-C1D4-4CE8-ACF9-D396E088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010650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D9E0E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D9E0EB"/>
                </a:solidFill>
                <a:latin typeface="Yu Gothic"/>
                <a:ea typeface="Yu Gothic"/>
                <a:cs typeface="Yu Gothic"/>
              </a:rPr>
              <a:t>赤判定の相談推奨をサーバー側で強制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E6BCD6-76CD-47C9-B6ED-7C1AFB6F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05925"/>
            <a:ext cx="3324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516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0BB110-30A9-439B-BA91-A8265DFD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107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データ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C80574-0A31-476E-9E55-209EFEDF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410700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D9E0E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D9E0EB"/>
                </a:solidFill>
                <a:latin typeface="Yu Gothic"/>
                <a:ea typeface="Yu Gothic"/>
                <a:cs typeface="Yu Gothic"/>
              </a:rPr>
              <a:t>在庫は判定時だけ送信し、永続保存しない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A1131D-0F9E-45F8-878F-7FA6DCCF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8020050"/>
            <a:ext cx="2447925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8933EC-55C0-41EA-AB57-17A69DC1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2105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実在商品で検証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C480E7-44DD-476C-B41A-0E3C2F89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553450"/>
            <a:ext cx="1095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5商品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8B8B7A-D9BD-462F-84AE-4696B6F2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86677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38" b="0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638" b="0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青・黄・赤の全パターン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311E81-6012-4134-9301-716A5BDA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39225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713" b="0">
                <a:solidFill>
                  <a:srgbClr val="46546A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46546A"/>
                </a:solidFill>
                <a:latin typeface="Yu Gothic"/>
                <a:ea typeface="Yu Gothic"/>
                <a:cs typeface="Yu Gothic"/>
              </a:rPr>
              <a:t>代表3シナリオを同じ画像で3回ずつ、計9回判定しました。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FB20DA-17B6-4B9A-A95A-F8538DF7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534525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72746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72746"/>
                </a:solidFill>
                <a:latin typeface="Yu Gothic"/>
                <a:ea typeface="Yu Gothic"/>
                <a:cs typeface="Yu Gothic"/>
              </a:rPr>
              <a:t>自動テスト 75件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1880DC-AC90-4D2B-962A-E77B9B41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0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6DB621-2003-4C17-BA31-011DAB3A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013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00" b="0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Overlai ／ 買う前に、家の棚を重ねて見る。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0C54FA-EFD1-44B3-9652-01FD8086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4013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00" b="0">
                <a:solidFill>
                  <a:srgbClr val="748197"/>
                </a:solidFill>
                <a:latin typeface="Yu Gothic"/>
                <a:ea typeface="Yu Gothic"/>
                <a:cs typeface="Yu Gothic"/>
              </a:defRPr>
            </a:pPr>
            <a:r>
              <a:rPr sz="600" b="0">
                <a:solidFill>
                  <a:srgbClr val="748197"/>
                </a:solidFill>
                <a:latin typeface="Yu Gothic"/>
                <a:ea typeface="Yu Gothic"/>
                <a:cs typeface="Yu Gothic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1550194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2026-09-10T11:53:36.8570000Z</dcterms:created>
  <dcterms:modified xsi:type="dcterms:W3CDTF">2026-09-10T11:53:36.8580000Z</dcterms:modified>
</coreProperties>
</file>